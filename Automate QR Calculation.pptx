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gendra Singh Rajput" initials="YSR" lastIdx="7" clrIdx="0">
    <p:extLst>
      <p:ext uri="{19B8F6BF-5375-455C-9EA6-DF929625EA0E}">
        <p15:presenceInfo xmlns:p15="http://schemas.microsoft.com/office/powerpoint/2012/main" userId="S::YogendraSingh_Rajput@amat.com::717b1476-2087-4c09-8d59-f7beb1b46eb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1T10:16:35.200" idx="1">
    <p:pos x="5633" y="986"/>
    <p:text>WITH cte
AS (
       SELECT distinct cmpntmaterialnum AS original,
              cast(cmpntmaterialnum AS varchar(300)) hkey,
              0 AS LEVEL,
              cmpntmaterialnum materialnum,
              prcrmnttype parentprcrmnttype,
              materialtypecd as parentmaterialtypecd,
              cast(1 AS DECIMAL(13,3)) parentqty,
              cmpntmaterialnum,
              prcrmnttype,
              cast(1 AS DECIMAL(13,3)) cmpntqty,
              cast(1 AS DECIMAL(13, 3)) extcmpntqty
       FROM factbomlvl1_wu
              where cmpntmaterialnum = '0190-41393'
       UNION ALL
       SELECT a.original,
              cast(CONCAT (
                           a.hkey,
                           '/',
                           b.materialnum
                           ) AS VARCHAR(300)) AS hkey,
              a.LEVEL + 1 AS LEVEL,
              b.materialnum,
              b.parentprcrmnttype,
              b.parentmaterialtypecd,
              --cast(b.parentqty AS DECIMAL(13,3)),
              cast(b.parentqty/b.parentqty AS DECIMAL(13,3)) parentqty,
              b.cmpntmaterialnum,
              a.parentprcrmnttype as prcrmnttype,
              cast(b.cmpntqty/b.parentqty AS DECIMAL(13, 3)) cmpntqty,
              cast(a.extcmpntqty * (b.cmpntqty/b.parentqty) AS DECIMAL(13, 3)) extcmpntqty
       FROM cte a
       INNER JOIN factbomlvl1_wu b
       ON b.cmpntmaterialnum = a.materialnum
       )
SELECT distinct original,materialnum,parentprcrmnttype,parentmaterialtypecd,extcmpntqty exttqty
FROM cte where 
parentprcrmnttype in ('Buy','Both')
and parentmaterialtypecd &lt;&gt; 'ZMAT'
ORDER BY 1,
       2</p:text>
    <p:extLst>
      <p:ext uri="{C676402C-5697-4E1C-873F-D02D1690AC5C}">
        <p15:threadingInfo xmlns:p15="http://schemas.microsoft.com/office/powerpoint/2012/main" timeZoneBias="420"/>
      </p:ext>
    </p:extLst>
  </p:cm>
  <p:cm authorId="1" dt="2021-06-11T10:25:30.594" idx="2">
    <p:pos x="5627" y="1705"/>
    <p:text>On Hand Query --&gt;SELECT 
materialnum, 
fromplantcd  AS plantcd,
Sum(mvmtqty) AS AMAT_Onhand 
FROM   PD_INV.SummOnhandAgingGsco
WHERE  mrpind = 'Y' AND storagetype IN( 'Storage' ) 
AND storageloccd NOT IN ('9501', 'INTR')
AND materialNum IN (
'0190-41393',
'0246-30306',
'0246-41441',
'0246-34935',
'SEMSYS-AJ-MFPR',
'SEMSYS-PJ-MFCM',
'SEMSYS-PJ-MFPR'
)
GROUP  BY materialnum, fromplantcd</p:text>
    <p:extLst>
      <p:ext uri="{C676402C-5697-4E1C-873F-D02D1690AC5C}">
        <p15:threadingInfo xmlns:p15="http://schemas.microsoft.com/office/powerpoint/2012/main" timeZoneBias="420"/>
      </p:ext>
    </p:extLst>
  </p:cm>
  <p:cm authorId="1" dt="2021-06-11T10:28:39.955" idx="3">
    <p:pos x="5625" y="1887"/>
    <p:text>On Order Query --&gt; Select  
FPOSL.materialnum,  
FPOSL.Plantcd,
sum(FPOSL.dueqty)as OnOrderQuantity
from pd_mm.factposl FPOSL  
Where  
FPOSL.plantcd in ('4060','4070','4080','4090')  
and FPOSL.openqty&gt;0  
and FPOSL.vendorcd not like '8%'  
and FPOSL.rflg =1  
AND FPOSL.cnclldqty IS NULL
--and FPOL.prchsgdoctypecd in ('NB','LPA','ZE','ZR')  
--and (case when FPOL.prchsggrpcd is null then '0' else FPOL.prchsggrpcd end) not like 'R%'  
AND FPOSL.materialNum IN (
'0630-01402'
)
group by FPOSL.materialnum , FPOSL.Plantcd</p:text>
    <p:extLst>
      <p:ext uri="{C676402C-5697-4E1C-873F-D02D1690AC5C}">
        <p15:threadingInfo xmlns:p15="http://schemas.microsoft.com/office/powerpoint/2012/main" timeZoneBias="420"/>
      </p:ext>
    </p:extLst>
  </p:cm>
  <p:cm authorId="1" dt="2021-06-11T10:49:17.755" idx="4">
    <p:pos x="5308" y="2326"/>
    <p:text>Cross-BU EIT Query --&gt; Select  A.CMPNTMATERIALNUM AS Part_Number,
                B.Slot_number as System_Number,
                sum(A.cmltvcmpntqty) as Extended_Quantity,
                B.eop_qtr as SPR_Quarter,
                B.NAME1 as Customer_Name,
                B.FAB_NAME as Customer_Fab,
                A.PROJNUM as Project_Number,
                B.MS560_ACTUAL as Actual_Mfg_Completion_Date_String,
                REPLACE(tspat.vtext, 'SSG ', '') AS BU,
                MS575_ACTUAL as Actual_RCTD_Date_String,
                MS575_PLANNED as Planned_RCTD_Date_String,
                B.MS560_PLANNED as Planned_Mfg_Completion_Date_String
                FROM pd_sd.factsobommultilvl A
                INNER JOIN rd_ecc.ZAM0611 B ON A.PROJNUM = B.SLOT_NUMBER
                LEFT JOIN rd_ecc.TSPAT tspat ON B.BUILD_BU = tspat.spart
                WHERE
                bomusage = '1'
                 AND original NOT LIKE 'SEM%-ENG'
                 AND a.hierarchy1 NOT LIKE '%/0243-_____/%'
                 AND tspat.spras='E'
                 AND tspat.mandt='200'
                 AND tspat.header__change_oper &lt;&gt; 'D'
                 AND A.plantcd IN ('4060','4070','4080','4090')
         AND B.MS560_ACTUAL = '00000000'
                group by
                        A.CMPNTMATERIALNUM,
                        B.slot_number,
                        B.eop_qtr,
                        B.NAME1,
                        B.FAB_NAME,
                        A.PROJNUM,
                        B.MS560_ACTUAL,
                        MS575_ACTUAL,
                        MS575_PLANNED,
                        B.MS560_PLANNED,
                        REPLACE(tspat.vtext, 'SSG ', '')</p:text>
    <p:extLst>
      <p:ext uri="{C676402C-5697-4E1C-873F-D02D1690AC5C}">
        <p15:threadingInfo xmlns:p15="http://schemas.microsoft.com/office/powerpoint/2012/main" timeZoneBias="420"/>
      </p:ext>
    </p:extLst>
  </p:cm>
  <p:cm authorId="1" dt="2021-06-11T10:49:21.226" idx="5">
    <p:pos x="5315" y="2830"/>
    <p:text>Shipped out systems EIT Query --&gt; select  A.CMPNTMATERIALNUM AS Part_Number,
                B.Slot_number as System_Number,
                sum(A.cmltvcmpntqty) as Extended_Quantity,
                B.eop_qtr as SPR_Quarter,
                B.NAME1 as Customer_Name,
                B.FAB_NAME as Customer_Fab,
                A.PROJNUM as Project_Number,
                B.MS560_ACTUAL as Actual_Mfg_Completion_Date_String,
                REPLACE(tspat.vtext, 'SSG ', '') AS BU,
                MS575_ACTUAL as Actual_RCTD_Date_String,
                MS575_PLANNED as Planned_RCTD_Date_String,
                B.MS560_PLANNED as Planned_Mfg_Completion_Date_String
                FROM pd_sd.factsobommultilvl A
                INNER JOIN rd_ecc.ZAM0611 B ON A.PROJNUM = B.SLOT_NUMBER
                LEFT JOIN rd_ecc.TSPAT tspat ON B.BUILD_BU = tspat.spart
                WHERE
                bomusage = '1'
                 AND original NOT LIKE 'SEM%-ENG'
                 AND a.hierarchy1 NOT LIKE '%/0243-_____/%'
                 AND tspat.spras='E'
                 AND tspat.mandt='200'
                 AND tspat.header__change_oper &lt;&gt; 'D'
                 AND A.plantcd IN ('4060','4070','4080','4090')
         AND (from_unixtime(unix_timestamp(B.MS560_ACTUAL,'yyyyMMdd'),'yyyy-MM-dd') = to_date(now() - interval 7 days))
                group by
                        A.CMPNTMATERIALNUM,
                        B.slot_number,
                        B.eop_qtr,
                        B.NAME1,
                        B.FAB_NAME,
                        A.PROJNUM,
                        B.MS560_ACTUAL,
                        MS575_ACTUAL,
                        MS575_PLANNED,
                        B.MS560_PLANNED,
                        REPLACE(tspat.vtext, 'SSG ', '')</p:text>
    <p:extLst>
      <p:ext uri="{C676402C-5697-4E1C-873F-D02D1690AC5C}">
        <p15:threadingInfo xmlns:p15="http://schemas.microsoft.com/office/powerpoint/2012/main" timeZoneBias="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1T15:36:54.030" idx="7">
    <p:pos x="6152" y="1964"/>
    <p:text>Cross-BU EIT Query --&gt; Select  A.CMPNTMATERIALNUM AS Part_Number,
                B.Slot_number as System_Number,
                sum(A.cmltvcmpntqty) as Extended_Quantity,
                B.eop_qtr as SPR_Quarter,
                B.NAME1 as Customer_Name,
                B.FAB_NAME as Customer_Fab,
                A.PROJNUM as Project_Number,
                B.MS560_ACTUAL as Actual_Mfg_Completion_Date_String,
                REPLACE(tspat.vtext, 'SSG ', '') AS BU,
                MS575_ACTUAL as Actual_RCTD_Date_String,
                MS575_PLANNED as Planned_RCTD_Date_String,
                B.MS560_PLANNED as Planned_Mfg_Completion_Date_String
                FROM pd_sd.factsobommultilvl A
                INNER JOIN rd_ecc.ZAM0611 B ON A.PROJNUM = B.SLOT_NUMBER
                LEFT JOIN rd_ecc.TSPAT tspat ON B.BUILD_BU = tspat.spart
                WHERE
                bomusage = '1'
                 AND original NOT LIKE 'SEM%-ENG'
                 AND a.hierarchy1 NOT LIKE '%/0243-_____/%'
                 AND tspat.spras='E'
                 AND tspat.mandt='200'
                 AND tspat.header__change_oper &lt;&gt; 'D'
                 AND A.plantcd IN ('4060','4070','4080','4090')
         AND B.MS560_ACTUAL = '00000000'
                group by
                        A.CMPNTMATERIALNUM,
                        B.slot_number,
                        B.eop_qtr,
                        B.NAME1,
                        B.FAB_NAME,
                        A.PROJNUM,
                        B.MS560_ACTUAL,
                        MS575_ACTUAL,
                        MS575_PLANNED,
                        B.MS560_PLANNED,
                        REPLACE(tspat.vtext, 'SSG ', '')</p:text>
    <p:extLst>
      <p:ext uri="{C676402C-5697-4E1C-873F-D02D1690AC5C}">
        <p15:threadingInfo xmlns:p15="http://schemas.microsoft.com/office/powerpoint/2012/main" timeZoneBias="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6A00-C0DB-4D77-8DC1-B3E2D0129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A05923-3DBE-440F-AE9A-B194B7E67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ED67-6A14-46DB-BAA8-758997C6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77F38-0770-49FB-84BB-EEBB54CC1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ABB0C-E959-4EE0-9D15-F7B61A14E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2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C3EA-F3F4-49AC-90EF-3E12B7843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1FF35-2662-4D9A-AC44-64F46287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07383-E117-4481-B450-A4803B55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CD87-44C0-430D-B848-E27D0381E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78800-0E6A-4CA7-BD32-887121AE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62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EA07-4ABF-4B38-B217-B32C8BCAD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FFC6E-62D4-4B4B-A249-0D08272C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517AA-1DD3-4189-982D-43E5EC70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F125D-3DA9-4D3A-A43C-57F8B0C3F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46C30-2A7E-49B5-9C98-ABF5C672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0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1B81-7D5B-4E9E-A189-F34121D1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73FF3-129A-466F-997B-13A4B6EAC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B4596-A284-4F16-9CE4-4318D2F6F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FD0E7-7B15-4D98-B59F-B67103FB1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2D814-2BE8-46CC-80D5-3F8C03BC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59A07-E9E3-48B6-8F6C-6A42C394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3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CA66-8232-48C4-B146-8328F6F5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8F047-6F13-489A-9AC0-89B9ADEAB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A522A-57D3-4E46-8935-6ED7D3A7E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E94FB-97B3-44E4-BCD5-72BDDA8BD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26775-7AA0-4634-BBB2-AB165E8B7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3BED84-53A3-4DC3-9357-E0684AE5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213A0-4448-432D-943A-B816727E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AD4B4-770F-492E-AA9E-A52FCDF6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3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E752-E392-49CB-85CD-B899AA53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A9B1EC-13CE-4B96-9D48-C8119561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6FF47-2DC1-420B-9ABC-835AD78D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FC46A-0A1C-4475-90F7-E125E81D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0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F6BE8-26CF-4A84-8D34-3AB799B8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45DB8-02CB-422D-B5B8-4A8818DD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43486-2D59-49A3-BABD-A53108FA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9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D021-5830-4A9A-849E-3D2D8B71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59144-C86F-4B73-B228-274D1BDB5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B943E-E01B-4ED6-8D08-F9BC7FF37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E0E80-FFCE-4752-B437-260B25AF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0122A-F3EE-4967-AF35-E6E03E38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499EA-CB3D-4ADC-A31B-F51D4417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26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A2C2-08FC-4AFB-9218-AA452A00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DBE92-3CF9-4980-8287-DA7AEE0863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52658-5D97-4832-B89B-5C54F77F8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FA013-7E54-4161-AFF2-A4A6D2D5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BE0AF-BE1F-4A65-840B-40136C38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ED29D-7B10-4779-A1B9-35306889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4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DF7A8-1715-4003-B7E4-530910F9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D5F66-C38D-4284-BFAE-1CB581347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3CAF5-D555-4D2D-AF14-353FD06B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DBE43-8998-4881-88FC-75ECE139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CAF66-C955-4BB0-9C65-358DD33EF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4DD0F-E23C-4264-9E26-F972713CD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6F391-686A-48B6-B69D-A0D9F8AC5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10F5C-C5C3-4148-BB8E-6AA12886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2C318-65BA-4104-A4D7-599A59B1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C26F6-67AC-4316-8AFE-00604D8CA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541D6-14AB-46A3-9F87-D14C9BFA5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17BE2-3617-4DFC-8231-42BA24802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2DAF6-E448-42BF-AAB1-27F8CCCCD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F381B-A545-4F66-A5A8-FEBF547BC273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343DE-8038-43DC-990B-65AA20BA3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63865-506F-498E-A40C-23F6A38A9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CDFD0-8861-4EFE-9AD8-C21278E7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4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E46DB0-915F-42FE-AEF8-86CF444B86ED}"/>
              </a:ext>
            </a:extLst>
          </p:cNvPr>
          <p:cNvSpPr/>
          <p:nvPr/>
        </p:nvSpPr>
        <p:spPr>
          <a:xfrm>
            <a:off x="4412609" y="570451"/>
            <a:ext cx="3582099" cy="6795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Automate QR Calculation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B6C7B-6594-4EEF-B1D5-0B782EF4A12A}"/>
              </a:ext>
            </a:extLst>
          </p:cNvPr>
          <p:cNvSpPr txBox="1"/>
          <p:nvPr/>
        </p:nvSpPr>
        <p:spPr>
          <a:xfrm>
            <a:off x="1275127" y="1669409"/>
            <a:ext cx="2345528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For each MDP part no. in OBS Get Eng. WU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6A7A58-38DD-4F75-BBBB-53C2275203A2}"/>
              </a:ext>
            </a:extLst>
          </p:cNvPr>
          <p:cNvSpPr/>
          <p:nvPr/>
        </p:nvSpPr>
        <p:spPr>
          <a:xfrm>
            <a:off x="4325815" y="1604584"/>
            <a:ext cx="4616849" cy="7759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Eng. WU Query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F472B7-99E8-45B6-8C9A-061280B0697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620655" y="1992575"/>
            <a:ext cx="705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7FB057-7A3B-4F90-890E-5E886FC99A3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634240" y="2380566"/>
            <a:ext cx="0" cy="342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3323DF-035E-4646-B0AB-0F1A44C65B1F}"/>
              </a:ext>
            </a:extLst>
          </p:cNvPr>
          <p:cNvSpPr/>
          <p:nvPr/>
        </p:nvSpPr>
        <p:spPr>
          <a:xfrm>
            <a:off x="2813541" y="2723378"/>
            <a:ext cx="6129124" cy="6463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MM360 </a:t>
            </a:r>
            <a:r>
              <a:rPr lang="en-US" dirty="0" err="1"/>
              <a:t>OnOrder</a:t>
            </a:r>
            <a:r>
              <a:rPr lang="en-US" dirty="0"/>
              <a:t> and OnHand quantity for each </a:t>
            </a:r>
            <a:r>
              <a:rPr lang="en-US" dirty="0" err="1"/>
              <a:t>MaterialNum</a:t>
            </a:r>
            <a:r>
              <a:rPr lang="en-US" dirty="0"/>
              <a:t> (Parent part) for a given part and calculate QR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C0587F-9099-4989-A82D-60144C386476}"/>
              </a:ext>
            </a:extLst>
          </p:cNvPr>
          <p:cNvSpPr/>
          <p:nvPr/>
        </p:nvSpPr>
        <p:spPr>
          <a:xfrm>
            <a:off x="4843189" y="3712522"/>
            <a:ext cx="3582100" cy="3995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Cross-BU EIT Query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61C4A0-AF03-4B96-921D-187ADB2D0C06}"/>
              </a:ext>
            </a:extLst>
          </p:cNvPr>
          <p:cNvSpPr/>
          <p:nvPr/>
        </p:nvSpPr>
        <p:spPr>
          <a:xfrm>
            <a:off x="4843198" y="4512470"/>
            <a:ext cx="3582091" cy="35279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Shipped Out system EIT Query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C7B748-CE2C-4A41-90E6-4DABB6020E24}"/>
              </a:ext>
            </a:extLst>
          </p:cNvPr>
          <p:cNvCxnSpPr>
            <a:cxnSpLocks/>
          </p:cNvCxnSpPr>
          <p:nvPr/>
        </p:nvCxnSpPr>
        <p:spPr>
          <a:xfrm>
            <a:off x="6634240" y="3369710"/>
            <a:ext cx="0" cy="342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F1739D-B2D7-42B5-AAD7-884B3CEA2CC1}"/>
              </a:ext>
            </a:extLst>
          </p:cNvPr>
          <p:cNvCxnSpPr>
            <a:stCxn id="18" idx="2"/>
            <a:endCxn id="26" idx="0"/>
          </p:cNvCxnSpPr>
          <p:nvPr/>
        </p:nvCxnSpPr>
        <p:spPr>
          <a:xfrm>
            <a:off x="6634239" y="4112035"/>
            <a:ext cx="5" cy="400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CD78C1-CB98-4EF9-8AF5-75994D69E510}"/>
              </a:ext>
            </a:extLst>
          </p:cNvPr>
          <p:cNvCxnSpPr>
            <a:stCxn id="26" idx="2"/>
          </p:cNvCxnSpPr>
          <p:nvPr/>
        </p:nvCxnSpPr>
        <p:spPr>
          <a:xfrm flipH="1">
            <a:off x="6634239" y="4865262"/>
            <a:ext cx="5" cy="890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024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341927-8322-4408-8A66-ADADFE814B21}"/>
              </a:ext>
            </a:extLst>
          </p:cNvPr>
          <p:cNvSpPr/>
          <p:nvPr/>
        </p:nvSpPr>
        <p:spPr>
          <a:xfrm>
            <a:off x="522317" y="1459400"/>
            <a:ext cx="2634143" cy="64633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Replacement part </a:t>
            </a:r>
          </a:p>
          <a:p>
            <a:pPr algn="ctr"/>
            <a:r>
              <a:rPr lang="en-US" dirty="0"/>
              <a:t>(1:1 &amp; M:1 mapping)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DCB7F5-66C7-4078-8439-6A78A871E7AC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3156460" y="1757558"/>
            <a:ext cx="1509325" cy="2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937721-C873-4C13-9E0B-EBCA42E44B2B}"/>
              </a:ext>
            </a:extLst>
          </p:cNvPr>
          <p:cNvSpPr/>
          <p:nvPr/>
        </p:nvSpPr>
        <p:spPr>
          <a:xfrm>
            <a:off x="4665785" y="1242150"/>
            <a:ext cx="5650513" cy="11610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Effective Quantity Remaining for obsolete part X (1194) = Quantity Remaining for obsolete part X (1144) from (WU –MM360) Hadoop + Quantity Remaining for replacement part of obsolete part X (50) WU –MM360 from Hadoop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552D92-2984-4E53-901A-3D46010FC191}"/>
              </a:ext>
            </a:extLst>
          </p:cNvPr>
          <p:cNvCxnSpPr/>
          <p:nvPr/>
        </p:nvCxnSpPr>
        <p:spPr>
          <a:xfrm>
            <a:off x="3059723" y="2105732"/>
            <a:ext cx="2028092" cy="1715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11FF3B-AAE3-41AF-A726-25743EA1A6DD}"/>
              </a:ext>
            </a:extLst>
          </p:cNvPr>
          <p:cNvCxnSpPr/>
          <p:nvPr/>
        </p:nvCxnSpPr>
        <p:spPr>
          <a:xfrm>
            <a:off x="6660682" y="519764"/>
            <a:ext cx="0" cy="722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A1AE185-45F6-4ADC-B75B-D5051ABCF62E}"/>
              </a:ext>
            </a:extLst>
          </p:cNvPr>
          <p:cNvSpPr/>
          <p:nvPr/>
        </p:nvSpPr>
        <p:spPr>
          <a:xfrm>
            <a:off x="420303" y="2990727"/>
            <a:ext cx="39688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Part Number	Replacement Item</a:t>
            </a:r>
          </a:p>
          <a:p>
            <a:r>
              <a:rPr lang="en-US" dirty="0"/>
              <a:t>1080-00310	1080-01485</a:t>
            </a:r>
          </a:p>
          <a:p>
            <a:r>
              <a:rPr lang="en-US" dirty="0"/>
              <a:t>1080-00786	1080-01485</a:t>
            </a:r>
          </a:p>
          <a:p>
            <a:r>
              <a:rPr lang="en-US" dirty="0"/>
              <a:t>1080-00850	1080-01485</a:t>
            </a:r>
          </a:p>
          <a:p>
            <a:r>
              <a:rPr lang="en-US" dirty="0"/>
              <a:t>1080-00858	1080-01485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AA5985-B583-40FB-935C-A125C14AD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068492"/>
              </p:ext>
            </p:extLst>
          </p:nvPr>
        </p:nvGraphicFramePr>
        <p:xfrm>
          <a:off x="250257" y="4468055"/>
          <a:ext cx="4908883" cy="2317758"/>
        </p:xfrm>
        <a:graphic>
          <a:graphicData uri="http://schemas.openxmlformats.org/drawingml/2006/table">
            <a:tbl>
              <a:tblPr/>
              <a:tblGrid>
                <a:gridCol w="1434164">
                  <a:extLst>
                    <a:ext uri="{9D8B030D-6E8A-4147-A177-3AD203B41FA5}">
                      <a16:colId xmlns:a16="http://schemas.microsoft.com/office/drawing/2014/main" val="2115877365"/>
                    </a:ext>
                  </a:extLst>
                </a:gridCol>
                <a:gridCol w="1934678">
                  <a:extLst>
                    <a:ext uri="{9D8B030D-6E8A-4147-A177-3AD203B41FA5}">
                      <a16:colId xmlns:a16="http://schemas.microsoft.com/office/drawing/2014/main" val="530266598"/>
                    </a:ext>
                  </a:extLst>
                </a:gridCol>
                <a:gridCol w="1540041">
                  <a:extLst>
                    <a:ext uri="{9D8B030D-6E8A-4147-A177-3AD203B41FA5}">
                      <a16:colId xmlns:a16="http://schemas.microsoft.com/office/drawing/2014/main" val="755344478"/>
                    </a:ext>
                  </a:extLst>
                </a:gridCol>
              </a:tblGrid>
              <a:tr h="386293">
                <a:tc>
                  <a:txBody>
                    <a:bodyPr/>
                    <a:lstStyle/>
                    <a:p>
                      <a:r>
                        <a:rPr lang="en-US" sz="1500"/>
                        <a:t>OLD AMAT Part#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NEW AMAT Part#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MFC type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663327"/>
                  </a:ext>
                </a:extLst>
              </a:tr>
              <a:tr h="386293">
                <a:tc>
                  <a:txBody>
                    <a:bodyPr/>
                    <a:lstStyle/>
                    <a:p>
                      <a:r>
                        <a:rPr lang="en-US" sz="1500" dirty="0"/>
                        <a:t>0190-43666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0190-84122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Z5 Series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05856"/>
                  </a:ext>
                </a:extLst>
              </a:tr>
              <a:tr h="386293">
                <a:tc>
                  <a:txBody>
                    <a:bodyPr/>
                    <a:lstStyle/>
                    <a:p>
                      <a:r>
                        <a:rPr lang="en-US" sz="1500" dirty="0"/>
                        <a:t>0190-33185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0190-84122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Z5 Series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97767"/>
                  </a:ext>
                </a:extLst>
              </a:tr>
              <a:tr h="386293">
                <a:tc>
                  <a:txBody>
                    <a:bodyPr/>
                    <a:lstStyle/>
                    <a:p>
                      <a:r>
                        <a:rPr lang="en-US" sz="1500" dirty="0"/>
                        <a:t>0190-48513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0190-84122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Z5 Series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077519"/>
                  </a:ext>
                </a:extLst>
              </a:tr>
              <a:tr h="386293">
                <a:tc>
                  <a:txBody>
                    <a:bodyPr/>
                    <a:lstStyle/>
                    <a:p>
                      <a:r>
                        <a:rPr lang="en-US" sz="1500" dirty="0"/>
                        <a:t>0190-47496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0190-84122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Z5 Series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056164"/>
                  </a:ext>
                </a:extLst>
              </a:tr>
              <a:tr h="386293">
                <a:tc>
                  <a:txBody>
                    <a:bodyPr/>
                    <a:lstStyle/>
                    <a:p>
                      <a:r>
                        <a:rPr lang="en-US" sz="1500" dirty="0"/>
                        <a:t>0190-33184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0190-84122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Z5 Series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847709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A7D1C20-3549-4869-8327-B1BE8FE29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815" y="3130476"/>
            <a:ext cx="46767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0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20D5ABF4-2094-4234-B64C-05BFEFDF9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102895"/>
              </p:ext>
            </p:extLst>
          </p:nvPr>
        </p:nvGraphicFramePr>
        <p:xfrm>
          <a:off x="332401" y="534402"/>
          <a:ext cx="10296452" cy="1525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9360">
                  <a:extLst>
                    <a:ext uri="{9D8B030D-6E8A-4147-A177-3AD203B41FA5}">
                      <a16:colId xmlns:a16="http://schemas.microsoft.com/office/drawing/2014/main" val="767598597"/>
                    </a:ext>
                  </a:extLst>
                </a:gridCol>
                <a:gridCol w="1976017">
                  <a:extLst>
                    <a:ext uri="{9D8B030D-6E8A-4147-A177-3AD203B41FA5}">
                      <a16:colId xmlns:a16="http://schemas.microsoft.com/office/drawing/2014/main" val="1748917371"/>
                    </a:ext>
                  </a:extLst>
                </a:gridCol>
                <a:gridCol w="1858073">
                  <a:extLst>
                    <a:ext uri="{9D8B030D-6E8A-4147-A177-3AD203B41FA5}">
                      <a16:colId xmlns:a16="http://schemas.microsoft.com/office/drawing/2014/main" val="4122245985"/>
                    </a:ext>
                  </a:extLst>
                </a:gridCol>
                <a:gridCol w="1381881">
                  <a:extLst>
                    <a:ext uri="{9D8B030D-6E8A-4147-A177-3AD203B41FA5}">
                      <a16:colId xmlns:a16="http://schemas.microsoft.com/office/drawing/2014/main" val="2348318716"/>
                    </a:ext>
                  </a:extLst>
                </a:gridCol>
                <a:gridCol w="671121">
                  <a:extLst>
                    <a:ext uri="{9D8B030D-6E8A-4147-A177-3AD203B41FA5}">
                      <a16:colId xmlns:a16="http://schemas.microsoft.com/office/drawing/2014/main" val="3623414674"/>
                    </a:ext>
                  </a:extLst>
                </a:gridCol>
              </a:tblGrid>
              <a:tr h="442696">
                <a:tc>
                  <a:txBody>
                    <a:bodyPr/>
                    <a:lstStyle/>
                    <a:p>
                      <a:r>
                        <a:rPr lang="en-US" dirty="0"/>
                        <a:t>Part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EIT Demand (All BU)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OH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114214"/>
                  </a:ext>
                </a:extLst>
              </a:tr>
              <a:tr h="442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0190-33184 (OBS)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(MDP)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653654"/>
                  </a:ext>
                </a:extLst>
              </a:tr>
              <a:tr h="4426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0190-84122 (</a:t>
                      </a:r>
                      <a:r>
                        <a:rPr lang="en-US" sz="1800" dirty="0" err="1"/>
                        <a:t>Rpl</a:t>
                      </a:r>
                      <a:r>
                        <a:rPr lang="en-US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(FEP)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6548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FA3EF9-2A8F-43D2-B590-7BE25CC1E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935487"/>
              </p:ext>
            </p:extLst>
          </p:nvPr>
        </p:nvGraphicFramePr>
        <p:xfrm>
          <a:off x="4902200" y="3429794"/>
          <a:ext cx="23876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341790225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20210608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2945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20210616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48481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20210602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67581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20210607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28132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20210806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59567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planned_mfg_completion_date_string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83227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8D9652-36ED-455D-A0E9-11A43D3F5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216735"/>
              </p:ext>
            </p:extLst>
          </p:nvPr>
        </p:nvGraphicFramePr>
        <p:xfrm>
          <a:off x="1619081" y="2173334"/>
          <a:ext cx="23876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17032652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planned_mfg_completion_date_string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5308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20210602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933464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20210607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16703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20210608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98201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20210616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168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20210806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80818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06FB05-3FEF-4AD2-8A41-3C576153E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126822"/>
              </p:ext>
            </p:extLst>
          </p:nvPr>
        </p:nvGraphicFramePr>
        <p:xfrm>
          <a:off x="928957" y="4686254"/>
          <a:ext cx="69977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2120">
                  <a:extLst>
                    <a:ext uri="{9D8B030D-6E8A-4147-A177-3AD203B41FA5}">
                      <a16:colId xmlns:a16="http://schemas.microsoft.com/office/drawing/2014/main" val="1159233005"/>
                    </a:ext>
                  </a:extLst>
                </a:gridCol>
                <a:gridCol w="1027767">
                  <a:extLst>
                    <a:ext uri="{9D8B030D-6E8A-4147-A177-3AD203B41FA5}">
                      <a16:colId xmlns:a16="http://schemas.microsoft.com/office/drawing/2014/main" val="3878866460"/>
                    </a:ext>
                  </a:extLst>
                </a:gridCol>
                <a:gridCol w="2385435">
                  <a:extLst>
                    <a:ext uri="{9D8B030D-6E8A-4147-A177-3AD203B41FA5}">
                      <a16:colId xmlns:a16="http://schemas.microsoft.com/office/drawing/2014/main" val="2200602839"/>
                    </a:ext>
                  </a:extLst>
                </a:gridCol>
                <a:gridCol w="1218095">
                  <a:extLst>
                    <a:ext uri="{9D8B030D-6E8A-4147-A177-3AD203B41FA5}">
                      <a16:colId xmlns:a16="http://schemas.microsoft.com/office/drawing/2014/main" val="3210360626"/>
                    </a:ext>
                  </a:extLst>
                </a:gridCol>
                <a:gridCol w="672490">
                  <a:extLst>
                    <a:ext uri="{9D8B030D-6E8A-4147-A177-3AD203B41FA5}">
                      <a16:colId xmlns:a16="http://schemas.microsoft.com/office/drawing/2014/main" val="3310898362"/>
                    </a:ext>
                  </a:extLst>
                </a:gridCol>
                <a:gridCol w="751793">
                  <a:extLst>
                    <a:ext uri="{9D8B030D-6E8A-4147-A177-3AD203B41FA5}">
                      <a16:colId xmlns:a16="http://schemas.microsoft.com/office/drawing/2014/main" val="89825898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part_number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system_number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planned_mfg_completion_date_string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extended_quantity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spr_quarter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38258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0190-84122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A01143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20210602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2.000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FEP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2021Q3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48596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0190-84122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A01144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20210607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2.000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FEP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2021Q3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59600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0190-33184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highlight>
                            <a:srgbClr val="00FF00"/>
                          </a:highlight>
                        </a:rPr>
                        <a:t>409141R14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highlight>
                            <a:srgbClr val="00FF00"/>
                          </a:highlight>
                        </a:rPr>
                        <a:t>20210608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1.000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MDP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highlight>
                            <a:srgbClr val="00FF00"/>
                          </a:highlight>
                        </a:rPr>
                        <a:t>2021Q3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78448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0190-33184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B01698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20210616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2.000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MDP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2021Q3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085061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0190-84122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A01259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20210806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2.000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FEP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2021Q4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4286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57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E58D4A-FB9B-46DF-B70A-24615CE15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28" y="0"/>
            <a:ext cx="9899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6D6C7D-540F-46C2-B6B1-EBF8574F7E8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594360"/>
            <a:ext cx="10845800" cy="5590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8155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9586DB-D9AF-4ADC-AA2A-C9C8833B6A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5000" y="419100"/>
            <a:ext cx="10807700" cy="60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92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FD2672-05AB-4419-8E37-597187AAD3D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" y="1734424"/>
            <a:ext cx="5249545" cy="25279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219E3F-CD14-4A8C-A328-A3096E830147}"/>
              </a:ext>
            </a:extLst>
          </p:cNvPr>
          <p:cNvSpPr/>
          <p:nvPr/>
        </p:nvSpPr>
        <p:spPr>
          <a:xfrm>
            <a:off x="846455" y="847789"/>
            <a:ext cx="579120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Shipped out systems logic to decrease Manually entered QR</a:t>
            </a:r>
          </a:p>
        </p:txBody>
      </p:sp>
    </p:spTree>
    <p:extLst>
      <p:ext uri="{BB962C8B-B14F-4D97-AF65-F5344CB8AC3E}">
        <p14:creationId xmlns:p14="http://schemas.microsoft.com/office/powerpoint/2010/main" val="157811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273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Yogendra Singh Rajput</dc:creator>
  <cp:lastModifiedBy>Kaushal Kumar --CNTR</cp:lastModifiedBy>
  <cp:revision>19</cp:revision>
  <dcterms:created xsi:type="dcterms:W3CDTF">2021-06-11T17:11:11Z</dcterms:created>
  <dcterms:modified xsi:type="dcterms:W3CDTF">2022-01-27T05:15:47Z</dcterms:modified>
</cp:coreProperties>
</file>